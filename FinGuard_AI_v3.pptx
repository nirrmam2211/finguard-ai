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noFill/>
          <a:ln w="44450">
            <a:solidFill>
              <a:srgbClr val="D95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47472"/>
            <a:ext cx="8449056" cy="6163056"/>
          </a:xfrm>
          <a:prstGeom prst="rect">
            <a:avLst/>
          </a:prstGeom>
          <a:noFill/>
          <a:ln w="1524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D95F1A"/>
                </a:solidFill>
                <a:latin typeface="Caveat"/>
              </a:rPr>
              <a:t>FinGuard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 i="0">
                <a:solidFill>
                  <a:srgbClr val="1C170E"/>
                </a:solidFill>
                <a:latin typeface="Caveat"/>
              </a:rPr>
              <a:t>Multi-Agent Fraud Risk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566160"/>
            <a:ext cx="4572000" cy="36576"/>
          </a:xfrm>
          <a:prstGeom prst="rect">
            <a:avLst/>
          </a:prstGeom>
          <a:solidFill>
            <a:srgbClr val="C29A3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B4F8A"/>
                </a:solidFill>
                <a:latin typeface="Segoe UI"/>
              </a:rPr>
              <a:t>500 transactions  |  4-agent pipeline  |  100% Critic pass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29A3C"/>
                </a:solidFill>
                <a:latin typeface="Segoe UI"/>
              </a:rPr>
              <a:t>github.com/Nirrmam2211/finguard-ai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70E"/>
                </a:solidFill>
                <a:latin typeface="Segoe UI"/>
              </a:rPr>
              <a:t>Symbiosis Institute of Technology  /  SEM-5 Flexi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01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29A3C"/>
                </a:solidFill>
                <a:latin typeface="Segoe U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01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29A3C"/>
                </a:solidFill>
                <a:latin typeface="Segoe U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446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29A3C"/>
                </a:solidFill>
                <a:latin typeface="Segoe U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46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29A3C"/>
                </a:solidFill>
                <a:latin typeface="Segoe UI"/>
              </a:rPr>
              <a:t>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70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DF6E3"/>
                </a:solidFill>
                <a:latin typeface="Caveat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4114800" cy="5212080"/>
          </a:xfrm>
          <a:prstGeom prst="rect">
            <a:avLst/>
          </a:prstGeom>
          <a:solidFill>
            <a:srgbClr val="FBEED3"/>
          </a:solidFill>
          <a:ln w="228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95F1A"/>
                </a:solidFill>
                <a:latin typeface="Caveat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3840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FinGuard AI chains four autonomous agents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to investigate a single financial transaction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and produce an explainable risk score.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Planner checks that all required fields are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present and creates the investigation task list.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Research collects transaction context and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flags relevant behavioural patterns.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Executor calls the Python risk engine and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scores the transaction against five rules.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Critic independently recomputes the score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and rejects any inconsistent assessment.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Output: a risk tier, triggered rules, and a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JSON report the analyst can download.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097280"/>
            <a:ext cx="4114800" cy="5212080"/>
          </a:xfrm>
          <a:prstGeom prst="rect">
            <a:avLst/>
          </a:prstGeom>
          <a:solidFill>
            <a:srgbClr val="FBEED3"/>
          </a:solidFill>
          <a:ln w="228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1887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6E38"/>
                </a:solidFill>
                <a:latin typeface="Caveat"/>
              </a:rPr>
              <a:t>Design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691640"/>
            <a:ext cx="3840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No ML models — scoring is rule-based.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Every flag has a plain-language reason.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Fail-closed: invalid input goes to manual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review. The pipeline never manufactures data.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Critic uses the same risk engine as Executor.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There is no separate or easier scorer for it.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Synthetic data only. Safe to share, run, and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demonstrate without any PII risk.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17 unit tests ship with the code. Changing a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rule breaks a test before it breaks a demo.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Scores are illustrative. The system recommends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human review and cannot block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95F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DF6E3"/>
                </a:solidFill>
                <a:latin typeface="Caveat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8595360" cy="1005840"/>
          </a:xfrm>
          <a:prstGeom prst="rect">
            <a:avLst/>
          </a:prstGeom>
          <a:solidFill>
            <a:srgbClr val="FFF0D0"/>
          </a:solidFill>
          <a:ln w="22860">
            <a:solidFill>
              <a:srgbClr val="D95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61288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C170E"/>
                </a:solidFill>
                <a:latin typeface="Caveat"/>
              </a:rPr>
              <a:t>"Fraud teams spend most of their time deciding what to look at, not actually looking at it."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2267712"/>
            <a:ext cx="2743200" cy="3931920"/>
          </a:xfrm>
          <a:prstGeom prst="rect">
            <a:avLst/>
          </a:prstGeom>
          <a:solidFill>
            <a:srgbClr val="FBEED3"/>
          </a:solidFill>
          <a:ln w="228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2267712"/>
            <a:ext cx="2743200" cy="365760"/>
          </a:xfrm>
          <a:prstGeom prst="rect">
            <a:avLst/>
          </a:prstGeom>
          <a:solidFill>
            <a:srgbClr val="D95F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22860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DF6E3"/>
                </a:solidFill>
                <a:latin typeface="Segoe UI"/>
              </a:rPr>
              <a:t>Black-box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743200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70E"/>
                </a:solidFill>
                <a:latin typeface="Segoe UI"/>
              </a:rPr>
              <a:t>A neural network outputs a probability — not a
reason. In a compliance meeting, "87% fraud" is
not an answer. A triggered rule list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267712"/>
            <a:ext cx="2743200" cy="3931920"/>
          </a:xfrm>
          <a:prstGeom prst="rect">
            <a:avLst/>
          </a:prstGeom>
          <a:solidFill>
            <a:srgbClr val="FBEED3"/>
          </a:solidFill>
          <a:ln w="228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267712"/>
            <a:ext cx="2743200" cy="365760"/>
          </a:xfrm>
          <a:prstGeom prst="rect">
            <a:avLst/>
          </a:prstGeom>
          <a:solidFill>
            <a:srgbClr val="D95F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DF6E3"/>
                </a:solidFill>
                <a:latin typeface="Segoe UI"/>
              </a:rPr>
              <a:t>Unstructured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2743200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70E"/>
                </a:solidFill>
                <a:latin typeface="Segoe UI"/>
              </a:rPr>
              <a:t>Without a fixed investigation workflow, two
analysts reviewing the same transaction apply
different checks and reach different conclusions.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2267712"/>
            <a:ext cx="2743200" cy="3931920"/>
          </a:xfrm>
          <a:prstGeom prst="rect">
            <a:avLst/>
          </a:prstGeom>
          <a:solidFill>
            <a:srgbClr val="FBEED3"/>
          </a:solidFill>
          <a:ln w="228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2267712"/>
            <a:ext cx="2743200" cy="365760"/>
          </a:xfrm>
          <a:prstGeom prst="rect">
            <a:avLst/>
          </a:prstGeom>
          <a:solidFill>
            <a:srgbClr val="D95F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2860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DF6E3"/>
                </a:solidFill>
                <a:latin typeface="Segoe UI"/>
              </a:rPr>
              <a:t>No accessible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743200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70E"/>
                </a:solidFill>
                <a:latin typeface="Segoe UI"/>
              </a:rPr>
              <a:t>Production fraud stacks need ML engineers and
live data pipelines. Students and small teams
have no working reference to learn 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29107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B4F8A"/>
                </a:solidFill>
                <a:latin typeface="Segoe UI"/>
              </a:rPr>
              <a:t>FinGuard AI gives teams a transparent, step-by-step workflow they can read, audit, and extend.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DF6E3"/>
                </a:solidFill>
                <a:latin typeface="Caveat"/>
              </a:rPr>
              <a:t>Architecture</a:t>
            </a:r>
          </a:p>
        </p:txBody>
      </p:sp>
      <p:pic>
        <p:nvPicPr>
          <p:cNvPr id="4" name="Picture 3" descr="media_1792433223760_eb58d8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87782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1722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1B4F8A"/>
                </a:solidFill>
                <a:latin typeface="Segoe UI"/>
              </a:rPr>
              <a:t>Critic recomputes via the same risk_engine.assess_transaction() call — no separate scorer.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DF6E3"/>
                </a:solidFill>
                <a:latin typeface="Caveat"/>
              </a:rPr>
              <a:t>The App — Streamlit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5029200" cy="4800600"/>
          </a:xfrm>
          <a:prstGeom prst="rect">
            <a:avLst/>
          </a:prstGeom>
          <a:solidFill>
            <a:srgbClr val="161628"/>
          </a:solidFill>
          <a:ln w="2540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dia_1792433255660_d213de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078992"/>
            <a:ext cx="4974336" cy="47457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40680" y="1051560"/>
            <a:ext cx="3474720" cy="4800600"/>
          </a:xfrm>
          <a:prstGeom prst="rect">
            <a:avLst/>
          </a:prstGeom>
          <a:solidFill>
            <a:srgbClr val="FBEED3"/>
          </a:solidFill>
          <a:ln w="228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1247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5F1A"/>
                </a:solidFill>
                <a:latin typeface="Caveat"/>
              </a:rPr>
              <a:t>Five scoring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6002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Amount &gt; INR 50,000        25 pts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New location flag              20 pts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4+ txns in 10 minutes      25 pts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New beneficiary flag         15 pts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Outside usual hours          15 pts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Scores cap at 100.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Low: 0–29  /  Medium: 30–59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High: 60–100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/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Each flag that fires is listed in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the final report with its point value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so the analyst knows exactly why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a transaction was escalated.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59436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8B1A1A"/>
                </a:solidFill>
                <a:latin typeface="Segoe UI"/>
              </a:rPr>
              <a:t>Weights are illustrative — not calibrated against verified fraud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6E3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DF6E3"/>
                </a:solidFill>
                <a:latin typeface="Caveat"/>
              </a:rPr>
              <a:t>Results &amp; Evaluation</a:t>
            </a:r>
          </a:p>
        </p:txBody>
      </p:sp>
      <p:pic>
        <p:nvPicPr>
          <p:cNvPr id="4" name="Picture 3" descr="resul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5074920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40680" y="1051560"/>
            <a:ext cx="3474720" cy="3291840"/>
          </a:xfrm>
          <a:prstGeom prst="rect">
            <a:avLst/>
          </a:prstGeom>
          <a:solidFill>
            <a:srgbClr val="FBEED3"/>
          </a:solidFill>
          <a:ln w="228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1124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E38"/>
                </a:solidFill>
                <a:latin typeface="Caveat"/>
              </a:rPr>
              <a:t>Run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72768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>Dataset      data/transactions.csv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>Records      500 synthetic rows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>Pipeline     Planner &gt; Research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>              &gt; Executor &gt; Critic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>Low tier      448 txns   89.6%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>Medium        48 txns    9.6%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>High            4 txns     0.8%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>Mean score   11.15 / 100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>Critic pass   500 / 500  (100%)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C170E"/>
                </a:solidFill>
                <a:latin typeface="Courier New"/>
              </a:rPr>
              <a:t>Unit tests    17 passed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4480560"/>
            <a:ext cx="8778240" cy="347472"/>
          </a:xfrm>
          <a:prstGeom prst="rect">
            <a:avLst/>
          </a:prstGeom>
          <a:solidFill>
            <a:srgbClr val="1C170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49884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 b="1" i="0">
                <a:solidFill>
                  <a:srgbClr val="FDF6E3"/>
                </a:solidFill>
                <a:latin typeface="Courier New"/>
              </a:rPr>
              <a:t>Transaction    Score    Tier              Triggered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4846320"/>
            <a:ext cx="8778240" cy="457200"/>
          </a:xfrm>
          <a:prstGeom prst="rect">
            <a:avLst/>
          </a:prstGeom>
          <a:solidFill>
            <a:srgbClr val="FBEED3"/>
          </a:solidFill>
          <a:ln w="101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882896"/>
            <a:ext cx="8503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70E"/>
                </a:solidFill>
                <a:latin typeface="Courier New"/>
              </a:rPr>
              <a:t>TXN00001       0        Low — Routine monitoring       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5321808"/>
            <a:ext cx="8778240" cy="457200"/>
          </a:xfrm>
          <a:prstGeom prst="rect">
            <a:avLst/>
          </a:prstGeom>
          <a:solidFill>
            <a:srgbClr val="FFEBEB"/>
          </a:solidFill>
          <a:ln w="101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358384"/>
            <a:ext cx="8503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70E"/>
                </a:solidFill>
                <a:latin typeface="Courier New"/>
              </a:rPr>
              <a:t>TXN00003       100     High — Priority analyst review  High amount, new location, high frequency, new beneficiary, unusual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5797296"/>
            <a:ext cx="8778240" cy="457200"/>
          </a:xfrm>
          <a:prstGeom prst="rect">
            <a:avLst/>
          </a:prstGeom>
          <a:solidFill>
            <a:srgbClr val="FFF5CC"/>
          </a:solidFill>
          <a:ln w="101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5833872"/>
            <a:ext cx="8503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70E"/>
                </a:solidFill>
                <a:latin typeface="Courier New"/>
              </a:rPr>
              <a:t>TXN00004       35       Medium — Analyst review         New location, new beneficiary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DF6E3"/>
                </a:solidFill>
                <a:latin typeface="Caveat"/>
              </a:rPr>
              <a:t>Honest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8686800" cy="5257800"/>
          </a:xfrm>
          <a:prstGeom prst="rect">
            <a:avLst/>
          </a:prstGeom>
          <a:solidFill>
            <a:srgbClr val="FBEED3"/>
          </a:solidFill>
          <a:ln w="2286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1A1A"/>
                </a:solidFill>
                <a:latin typeface="Caveat"/>
              </a:rPr>
              <a:t>What this system cannot tell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8321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Classification accuracy: not available.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  The CSV has no verified fraud/legitimate labels. Accuracy, precision, recall, F1, and ROC-AUC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  cannot be calculated honestly from this dataset. The score is a rule total, not a fraud probability.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Performance benchmark: not measured.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  500 rows ran successfully. That confirms the pipeline works — it is not a latency or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  throughput benchmark, and no competing system was compared.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Critic blind spot: Executor and Critic use the same scoring function.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  A shared defect in risk_engine.py would not be caught by the Critic's recomputation.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Synthetic data only.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  No conclusions about real customers or real fraud patterns can be drawn from these results.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/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Rule weights are illustrative.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1C170E"/>
                </a:solidFill>
                <a:latin typeface="Segoe UI"/>
              </a:rPr>
              <a:t>  The point values were not calibrated against any verified outcome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70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DF6E3"/>
                </a:solidFill>
                <a:latin typeface="Caveat"/>
              </a:rPr>
              <a:t>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6949440" cy="4754880"/>
          </a:xfrm>
          <a:prstGeom prst="rect">
            <a:avLst/>
          </a:prstGeom>
          <a:solidFill>
            <a:srgbClr val="FBEED3"/>
          </a:solidFill>
          <a:ln w="3175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261872"/>
            <a:ext cx="6583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4F8A"/>
                </a:solidFill>
                <a:latin typeface="Caveat"/>
              </a:rPr>
              <a:t>github.com/Nirrmam2211/finguard-ai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920240"/>
            <a:ext cx="6766560" cy="36576"/>
          </a:xfrm>
          <a:prstGeom prst="rect">
            <a:avLst/>
          </a:prstGeom>
          <a:solidFill>
            <a:srgbClr val="C29A3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29968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risk_engine.py           Scoring rules, validation, thresholds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orchestrator.py          Pipeline state machine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agents/planner.py        Checks fields, creates task list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agents/research.py       Collects transaction evidence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agents/executor.py       Runs risk engine, produces assessment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agents/critic.py         Recomputes and validates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app.py                   Streamlit entry point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data/transactions.csv    500-row synthetic dataset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C170E"/>
                </a:solidFill>
                <a:latin typeface="Courier New"/>
              </a:rPr>
              <a:t>tests/                   17 unit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5257800"/>
            <a:ext cx="6766560" cy="36576"/>
          </a:xfrm>
          <a:prstGeom prst="rect">
            <a:avLst/>
          </a:prstGeom>
          <a:solidFill>
            <a:srgbClr val="C29A3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532180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6E38"/>
                </a:solidFill>
                <a:latin typeface="Courier New"/>
              </a:rPr>
              <a:t>streamlit run app.py                       python -m unittest discover -s tests -v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noFill/>
          <a:ln w="44450">
            <a:solidFill>
              <a:srgbClr val="D95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47472"/>
            <a:ext cx="8449056" cy="6163056"/>
          </a:xfrm>
          <a:prstGeom prst="rect">
            <a:avLst/>
          </a:prstGeom>
          <a:noFill/>
          <a:ln w="15240">
            <a:solidFill>
              <a:srgbClr val="C2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95F1A"/>
                </a:solidFill>
                <a:latin typeface="Caveat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C170E"/>
                </a:solidFill>
                <a:latin typeface="Caveat"/>
              </a:rPr>
              <a:t>Questions welcome.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931920"/>
            <a:ext cx="4023360" cy="36576"/>
          </a:xfrm>
          <a:prstGeom prst="rect">
            <a:avLst/>
          </a:prstGeom>
          <a:solidFill>
            <a:srgbClr val="C29A3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 i="1">
                <a:solidFill>
                  <a:srgbClr val="1B4F8A"/>
                </a:solidFill>
                <a:latin typeface="Segoe UI"/>
              </a:rPr>
              <a:t>github.com/Nirrmam2211/finguard-ai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1B4F8A"/>
                </a:solidFill>
                <a:latin typeface="Segoe UI"/>
              </a:rPr>
              <a:t>500 transactions  |  17 unit tests  |  100% Critic pass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29A3C"/>
                </a:solidFill>
                <a:latin typeface="Segoe UI"/>
              </a:rPr>
              <a:t>Symbiosis Institute of Technology  /  SEM-5 Flexi  /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01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29A3C"/>
                </a:solidFill>
                <a:latin typeface="Segoe U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01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29A3C"/>
                </a:solidFill>
                <a:latin typeface="Segoe U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446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29A3C"/>
                </a:solidFill>
                <a:latin typeface="Segoe U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46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29A3C"/>
                </a:solidFill>
                <a:latin typeface="Segoe UI"/>
              </a:rPr>
              <a:t>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