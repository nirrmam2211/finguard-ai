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FinGuard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DCE6F5"/>
                </a:solidFill>
              </a:defRPr>
            </a:pPr>
            <a:r>
              <a:t>CA-3 Agentic AI Proof of Concept</a:t>
            </a:r>
            <a:br/>
            <a:r>
              <a:t>Banking &amp; Finance: Suspicious Transaction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CA-3 • Agentic AI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FinGuard AI | Banking &amp; Finance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8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Financial institutions receive high transaction volumes every day.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Analysts currently review suspicious activity manually using multiple checks and fragmented tools.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The process is slow, inconsistent, and difficult to explain or audit.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A better workflow is needed for explainable alert triage and human review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4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Build a multi-agent workflow for suspicious transaction investigation.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Planner identifies what to check, Research gathers evidence, Executor runs the rule engine, Critic validates the result.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The system supports analyst review instead of making automated blocking decisions.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The result is explainable, deterministic, and safe for a classroom PoC.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8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22340"/>
                </a:solidFill>
              </a:defRPr>
            </a:pPr>
            <a:r>
              <a:t>Agent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937760" cy="4389120"/>
          </a:xfrm>
          <a:prstGeom prst="rect">
            <a:avLst/>
          </a:prstGeom>
          <a:solidFill>
            <a:srgbClr val="EEF5FF"/>
          </a:solidFill>
          <a:ln w="19050">
            <a:solidFill>
              <a:srgbClr val="28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2340"/>
                </a:solidFill>
              </a:defRPr>
            </a:pPr>
            <a:r>
              <a:t>Core workflow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Planner Agent: defines investigation steps and checks required transaction fields.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Research Agent: collects evidence such as amount, location, frequency, new beneficiary, and unusual time.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Executor Agent: runs the Python risk engine and computes the score.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Critic Agent: independently validates the assessment and rejects mismatches.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solidFill>
            <a:srgbClr val="EEF5FF"/>
          </a:solidFill>
          <a:ln w="19050">
            <a:solidFill>
              <a:srgbClr val="28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2340"/>
                </a:solidFill>
              </a:defRPr>
            </a:pPr>
            <a:r>
              <a:t>Why this matters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Each agent has a clear responsibility.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The system is modular and easier to explain.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Validation reduces false confidence and supports safe human review.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The workflow demonstrates real agentic collaboration in a small PoC.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4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340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645920" cy="1051560"/>
          </a:xfrm>
          <a:prstGeom prst="rect">
            <a:avLst/>
          </a:prstGeom>
          <a:solidFill>
            <a:srgbClr val="2862A8"/>
          </a:solidFill>
          <a:ln>
            <a:solidFill>
              <a:srgbClr val="28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User / Analyst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1554480"/>
            <a:ext cx="1645920" cy="1051560"/>
          </a:xfrm>
          <a:prstGeom prst="rect">
            <a:avLst/>
          </a:prstGeom>
          <a:solidFill>
            <a:srgbClr val="2862A8"/>
          </a:solidFill>
          <a:ln>
            <a:solidFill>
              <a:srgbClr val="28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Streamlit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26080"/>
            <a:ext cx="1828800" cy="1097280"/>
          </a:xfrm>
          <a:prstGeom prst="rect">
            <a:avLst/>
          </a:prstGeom>
          <a:solidFill>
            <a:srgbClr val="248CA0"/>
          </a:solidFill>
          <a:ln>
            <a:solidFill>
              <a:srgbClr val="24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Planner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2926080"/>
            <a:ext cx="1828800" cy="1097280"/>
          </a:xfrm>
          <a:prstGeom prst="rect">
            <a:avLst/>
          </a:prstGeom>
          <a:solidFill>
            <a:srgbClr val="248CA0"/>
          </a:solidFill>
          <a:ln>
            <a:solidFill>
              <a:srgbClr val="24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Research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926080"/>
            <a:ext cx="1828800" cy="1097280"/>
          </a:xfrm>
          <a:prstGeom prst="rect">
            <a:avLst/>
          </a:prstGeom>
          <a:solidFill>
            <a:srgbClr val="248CA0"/>
          </a:solidFill>
          <a:ln>
            <a:solidFill>
              <a:srgbClr val="24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Executor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2926080"/>
            <a:ext cx="1828800" cy="1097280"/>
          </a:xfrm>
          <a:prstGeom prst="rect">
            <a:avLst/>
          </a:prstGeom>
          <a:solidFill>
            <a:srgbClr val="248CA0"/>
          </a:solidFill>
          <a:ln>
            <a:solidFill>
              <a:srgbClr val="24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Risk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4754880"/>
            <a:ext cx="1920240" cy="1097280"/>
          </a:xfrm>
          <a:prstGeom prst="rect">
            <a:avLst/>
          </a:prstGeom>
          <a:solidFill>
            <a:srgbClr val="2862A8"/>
          </a:solidFill>
          <a:ln>
            <a:solidFill>
              <a:srgbClr val="28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Critic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4754880"/>
            <a:ext cx="2560320" cy="1097280"/>
          </a:xfrm>
          <a:prstGeom prst="rect">
            <a:avLst/>
          </a:prstGeom>
          <a:solidFill>
            <a:srgbClr val="122340"/>
          </a:solidFill>
          <a:ln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8. Manual Review / Report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2148840"/>
            <a:ext cx="731520" cy="0"/>
          </a:xfrm>
          <a:prstGeom prst="line">
            <a:avLst/>
          </a:prstGeom>
          <a:ln w="25400">
            <a:solidFill>
              <a:srgbClr val="2D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2148840"/>
            <a:ext cx="0" cy="777240"/>
          </a:xfrm>
          <a:prstGeom prst="line">
            <a:avLst/>
          </a:prstGeom>
          <a:ln w="25400">
            <a:solidFill>
              <a:srgbClr val="2D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3474720"/>
            <a:ext cx="1280160" cy="0"/>
          </a:xfrm>
          <a:prstGeom prst="line">
            <a:avLst/>
          </a:prstGeom>
          <a:ln w="25400">
            <a:solidFill>
              <a:srgbClr val="2D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3474720"/>
            <a:ext cx="640080" cy="0"/>
          </a:xfrm>
          <a:prstGeom prst="line">
            <a:avLst/>
          </a:prstGeom>
          <a:ln w="25400">
            <a:solidFill>
              <a:srgbClr val="2D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4023360"/>
            <a:ext cx="0" cy="731520"/>
          </a:xfrm>
          <a:prstGeom prst="line">
            <a:avLst/>
          </a:prstGeom>
          <a:ln w="25400">
            <a:solidFill>
              <a:srgbClr val="2D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5303520"/>
            <a:ext cx="731520" cy="0"/>
          </a:xfrm>
          <a:prstGeom prst="line">
            <a:avLst/>
          </a:prstGeom>
          <a:ln w="25400">
            <a:solidFill>
              <a:srgbClr val="2D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126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Planner → Research → Executor → Critic creates a fail-closed investigation flow for analyst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8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Demo Workflow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Upload CSV data or use the bundled synthetic transaction dataset.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Map columns to the canonical FinGuard fields.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Select a transaction and run the investigation.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View the risk score, classification, evidence table, trace of all agents, and download the JSON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4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Validation, Testing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The Critic recomputes the expected assessment and checks for mismatches.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A failed validation results in manual review and not automatic blocking.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The project includes 9 automated tests covering workflow execution, scoring, validation, and boundary checks.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This makes the demo more trustworthy and academically strong.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8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22340"/>
                </a:solidFill>
              </a:defRPr>
            </a:pPr>
            <a:r>
              <a:t>Limitations and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937760" cy="4389120"/>
          </a:xfrm>
          <a:prstGeom prst="rect">
            <a:avLst/>
          </a:prstGeom>
          <a:solidFill>
            <a:srgbClr val="EEF5FF"/>
          </a:solidFill>
          <a:ln w="19050">
            <a:solidFill>
              <a:srgbClr val="28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2340"/>
                </a:solidFill>
              </a:defRPr>
            </a:pPr>
            <a:r>
              <a:t>Current limits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Synthetic dataset only.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Illustrative thresholds and rules, not a calibrated fraud model.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No production-grade deployment or real banking integration.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The demo is for learning and evaluation, not real-world fraud enforcement.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solidFill>
            <a:srgbClr val="EEF5FF"/>
          </a:solidFill>
          <a:ln w="19050">
            <a:solidFill>
              <a:srgbClr val="28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22340"/>
                </a:solidFill>
              </a:defRPr>
            </a:pPr>
            <a:r>
              <a:t>Next improvements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Use real customer-history data and labeled cases.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Tune thresholds using historical risk data.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Add richer analyst workflows and audit logging.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Keep the final decision human-reviewed while adding AI support for evidence gathering.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FinGuard AI shows how a small multi-agent system can improve transaction review in a banking domain.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It is explainable, deterministic, and suitable for a CA-3 proof of concept.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The system supports better triage, stronger validation, and safer human review.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This is a meaningful example of agentic AI applied to a real business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